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464"/>
    <p:restoredTop sz="91434"/>
  </p:normalViewPr>
  <p:slideViewPr>
    <p:cSldViewPr snapToGrid="0">
      <p:cViewPr varScale="1">
        <p:scale>
          <a:sx n="186" d="100"/>
          <a:sy n="186" d="100"/>
        </p:scale>
        <p:origin x="26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08D0A-CB19-C941-9AFA-4610A3129EA1}" type="datetimeFigureOut">
              <a:rPr lang="en-KR" smtClean="0"/>
              <a:t>11/4/25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44E81-7A2B-6344-871E-829CCE537AA7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2988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44E81-7A2B-6344-871E-829CCE537AA7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21656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44E81-7A2B-6344-871E-829CCE537AA7}" type="slidenum">
              <a:rPr lang="en-KR" smtClean="0"/>
              <a:t>4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016900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FAAB8-4A8A-71E4-7833-F6F2BDFCF2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C451A-2ED7-CD45-4F78-7EFF0D136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16AF3-11EF-F262-940D-B18282149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E23C50-F055-F1ED-2650-01A08B2B1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827A-C7E8-0267-2A51-2269C02E3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240866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3AEE0-3742-6F14-BC91-8707D70BF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FF5996-ADBC-FCFB-3D53-B11ACA12F7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5E647-B3D5-4A8B-E0C1-92C45F167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01E0DA-50AF-E086-1C0A-BB273B988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3D4F7-D35B-3AE4-B3DD-629783789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56880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0D234-F60B-B4D7-1053-DE3299F9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6F15A-586B-B8B8-B927-B29AE8F5A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A72A7-EC41-C34A-0232-111CCB675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B598D-DBB6-0154-AF85-C6C99437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0D663-F7DA-504C-D8ED-970606CAC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062174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8E8D1-88B3-5A75-82BC-84FFE5AD4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EF638-25D3-0E5B-DC56-3202E132C5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B1294C-2D90-8250-67EC-FEAE230FA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E7ACF9-D2F7-1AEA-78DF-B28DA55E5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A22233-1E51-B4DE-E689-15924B9DC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11D0AC-CF04-315E-5A4C-FC70B255C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214986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D75C4-9F36-0922-EC02-E45CA2A9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EA6714-F3B6-E66C-9AF4-5B4AC3754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C4A201-026C-3C25-D7B4-44B2FFEDA8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E6561-9CF8-12C9-8BB7-5963E43A8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64C876-BBFE-089F-30E6-664A96134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25F8EE-9BAE-4705-B73F-0145DC5A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86DAB-8AAF-1B5B-4D01-5E2565D7B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C8F99C-D00C-2361-138B-29E1086F3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964240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B8287-0C4D-26BD-AF63-0501A15C4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7A67FC-AF71-3269-8FEA-5D5C814BA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CF63C-AADE-A6B4-155A-F36797CB2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684DE8-CB1C-D51C-5B4B-975C9724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81740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B640E3-DF83-3078-353C-CE5C968D4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6AC793-18FD-0307-82AA-18EB86E41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A28F0-76C5-B4BD-0E30-76EF2EC6F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190302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380A6-1070-39B6-0C54-AAFA58DF2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1EEC5-AC78-659E-4094-104B76F02A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62B4C-F164-D7C4-4C8B-115245C1B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1AE6EF-9E00-5ADF-2772-D58F797FA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369A36-AE29-F3D5-3AB2-1E33C428E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F0F6E-AF61-BDD4-1EDB-E962A10D4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06279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4E345-65DD-63EF-3AAB-526B7F08A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3247A-2E1D-75EB-42A6-AAE9DF5AD5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82F6B-98E8-C3D4-71FF-1969BF5C1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71F92-5339-9EA9-55C2-50DC13ECF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3015D6-D39F-E8ED-56CB-149674B1F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241B2-0877-3912-CACA-2138A1C9C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36047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BD705-B5A9-7338-9810-3EBC28A4C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E91FDB-2683-0D3C-6897-472AB7CCDC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F4458-734C-359C-2739-29B24F39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C27B6-778A-A6B9-A102-ED2FFE070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62BA-5D6A-03E9-8569-397F1DD7C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176169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E3A6B7-024A-8F97-3BB9-36843E0B6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5B961B-32DE-A07F-6D76-45987EB222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77ACA-4955-7EE0-9804-3CBC84EC7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3EF49C-5505-C5A3-F326-46F948F26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F564D-A986-C08B-CA45-D073B114E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32660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7BD574-BD0A-398D-AA47-7CD817B4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C23DC-2E02-A90F-B716-1CCCCF2BB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9CD33-B867-5D2A-A7A3-7A3BFBF0C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43358-FC8A-CC47-8122-C195769D8D4F}" type="datetimeFigureOut">
              <a:rPr lang="en-KR" smtClean="0"/>
              <a:t>11/3/25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536A0-208B-120E-5ED1-B6DC72D213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515AA-69CE-5CEB-E459-EEACC6435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F81352-5469-EB4C-A499-A87E893A536E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4864348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9F460-195D-8880-BCA6-F2AD3B34FC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KR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Angsana New" panose="02020603050405020304" pitchFamily="18" charset="-34"/>
              </a:rPr>
              <a:t>Team Project 02</a:t>
            </a:r>
            <a:br>
              <a:rPr lang="en-KR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Angsana New" panose="02020603050405020304" pitchFamily="18" charset="-34"/>
              </a:rPr>
            </a:br>
            <a:r>
              <a:rPr lang="en-KR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Angsana New" panose="02020603050405020304" pitchFamily="18" charset="-34"/>
              </a:rPr>
              <a:t>Proposal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1B1E0-6450-B68B-DEAB-CF9664F705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KR" dirty="0"/>
          </a:p>
          <a:p>
            <a:endParaRPr lang="en-KR" dirty="0"/>
          </a:p>
          <a:p>
            <a:pPr algn="r"/>
            <a:r>
              <a:rPr lang="en-KR" sz="1900" b="1" dirty="0">
                <a:latin typeface="NanumGothic" pitchFamily="2" charset="-127"/>
                <a:ea typeface="NanumGothic" pitchFamily="2" charset="-127"/>
              </a:rPr>
              <a:t>Team5 (Global Team)</a:t>
            </a:r>
          </a:p>
          <a:p>
            <a:pPr algn="r"/>
            <a:r>
              <a:rPr lang="en-KR" sz="1900" dirty="0">
                <a:latin typeface="NanumGothic" pitchFamily="2" charset="-127"/>
                <a:ea typeface="NanumGothic" pitchFamily="2" charset="-127"/>
              </a:rPr>
              <a:t>Dennis Goretzki, Lee Juhwan, Yu Seoyeon, Cha Seungjoon</a:t>
            </a:r>
          </a:p>
        </p:txBody>
      </p:sp>
      <p:pic>
        <p:nvPicPr>
          <p:cNvPr id="1026" name="Picture 2" descr="CAU, Computer Science &amp; Engineering | Seoul">
            <a:extLst>
              <a:ext uri="{FF2B5EF4-FFF2-40B4-BE49-F238E27FC236}">
                <a16:creationId xmlns:a16="http://schemas.microsoft.com/office/drawing/2014/main" id="{5B3F2E2C-4139-A803-4629-F00A1BE91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202238"/>
            <a:ext cx="1655762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3D0ECCA-A2DF-7E2C-6087-98A4782C3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3721"/>
            <a:ext cx="1974771" cy="9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3960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55816-D4D9-24DB-5A36-D8780B69A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NanumGothic" pitchFamily="2" charset="-127"/>
                <a:ea typeface="NanumGothic" pitchFamily="2" charset="-127"/>
              </a:rPr>
              <a:t>Motivation</a:t>
            </a:r>
            <a:endParaRPr lang="en-KR" b="1" dirty="0">
              <a:latin typeface="NanumGothic" pitchFamily="2" charset="-127"/>
              <a:ea typeface="NanumGothic" pitchFamily="2" charset="-127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4701F-D3C4-6C8E-C44F-0E015C7152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9550" y="4835047"/>
            <a:ext cx="5554249" cy="134191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KR" dirty="0"/>
              <a:t>Bad lighting, incorrect white balance, camera setting </a:t>
            </a:r>
          </a:p>
          <a:p>
            <a:pPr marL="0" indent="0">
              <a:buNone/>
            </a:pPr>
            <a:r>
              <a:rPr lang="en-KR" dirty="0"/>
              <a:t>➡️ </a:t>
            </a:r>
            <a:r>
              <a:rPr lang="en-KR" b="1" dirty="0"/>
              <a:t>Color imbalance</a:t>
            </a:r>
          </a:p>
        </p:txBody>
      </p:sp>
      <p:pic>
        <p:nvPicPr>
          <p:cNvPr id="2050" name="Picture 2" descr="CAU, Computer Science &amp; Engineering | Seoul">
            <a:extLst>
              <a:ext uri="{FF2B5EF4-FFF2-40B4-BE49-F238E27FC236}">
                <a16:creationId xmlns:a16="http://schemas.microsoft.com/office/drawing/2014/main" id="{DC49B411-AA2A-CDEB-CDB7-DF8604571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389" y="5200389"/>
            <a:ext cx="1657611" cy="165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Photoshop: Temperature/Color cast - JOURNALISM">
            <a:extLst>
              <a:ext uri="{FF2B5EF4-FFF2-40B4-BE49-F238E27FC236}">
                <a16:creationId xmlns:a16="http://schemas.microsoft.com/office/drawing/2014/main" id="{AB7C4F70-E615-E817-0B51-2AACA2A8E1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01050"/>
            <a:ext cx="4835221" cy="3293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AD0519F-31DA-6B58-2522-14540B8E79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3421" y="2227849"/>
            <a:ext cx="5680379" cy="2435380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77EB15BE-C491-5763-9B15-C3F454700D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3721"/>
            <a:ext cx="1974771" cy="9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5914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94E8B-63B0-E9B4-0BC6-DA84F9766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B06BF-E6E7-0143-DFFA-3724EF9ED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KR" b="1" dirty="0">
                <a:latin typeface="NanumGothic" pitchFamily="2" charset="-127"/>
                <a:ea typeface="NanumGothic" pitchFamily="2" charset="-127"/>
              </a:rPr>
              <a:t>Program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1C2DF5-AE51-9577-5702-CF6CCE0D9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964857"/>
            <a:ext cx="10515600" cy="2747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KR" b="1" dirty="0"/>
          </a:p>
          <a:p>
            <a:pPr marL="0" indent="0">
              <a:buNone/>
            </a:pPr>
            <a:r>
              <a:rPr lang="en-KR" b="1" dirty="0"/>
              <a:t>1. Detect Color imbalance</a:t>
            </a:r>
          </a:p>
          <a:p>
            <a:pPr marL="0" indent="0">
              <a:buNone/>
            </a:pPr>
            <a:r>
              <a:rPr lang="en-KR" b="1" dirty="0"/>
              <a:t>2. Correct white balance</a:t>
            </a:r>
          </a:p>
          <a:p>
            <a:pPr marL="0" indent="0">
              <a:buNone/>
            </a:pPr>
            <a:r>
              <a:rPr lang="en-KR" b="1" dirty="0"/>
              <a:t>3. Provide color temperature presets</a:t>
            </a:r>
          </a:p>
        </p:txBody>
      </p:sp>
      <p:pic>
        <p:nvPicPr>
          <p:cNvPr id="2050" name="Picture 2" descr="CAU, Computer Science &amp; Engineering | Seoul">
            <a:extLst>
              <a:ext uri="{FF2B5EF4-FFF2-40B4-BE49-F238E27FC236}">
                <a16:creationId xmlns:a16="http://schemas.microsoft.com/office/drawing/2014/main" id="{9BC17755-0F60-0BD2-A550-FC53D66A0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389" y="5200389"/>
            <a:ext cx="1657611" cy="165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340EA788-EA50-5331-BA4A-AFCE0462DCA7}"/>
              </a:ext>
            </a:extLst>
          </p:cNvPr>
          <p:cNvSpPr/>
          <p:nvPr/>
        </p:nvSpPr>
        <p:spPr>
          <a:xfrm>
            <a:off x="2837144" y="4712820"/>
            <a:ext cx="6517709" cy="1189972"/>
          </a:xfrm>
          <a:prstGeom prst="flowChartAlternateProcess">
            <a:avLst/>
          </a:prstGeom>
          <a:gradFill flip="none" rotWithShape="1">
            <a:gsLst>
              <a:gs pos="0">
                <a:schemeClr val="tx2">
                  <a:lumMod val="50000"/>
                  <a:lumOff val="50000"/>
                </a:schemeClr>
              </a:gs>
              <a:gs pos="84000">
                <a:schemeClr val="accent1">
                  <a:shade val="67500"/>
                  <a:satMod val="115000"/>
                  <a:alpha val="92656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Automatically adjust color balance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 for more natural, visually pleasing results</a:t>
            </a:r>
            <a:endParaRPr lang="en-KR" sz="2400" b="1" dirty="0">
              <a:solidFill>
                <a:schemeClr val="bg1"/>
              </a:solidFill>
            </a:endParaRPr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3CAD747D-5C78-8ADA-58F8-0ED150775F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3721"/>
            <a:ext cx="1974771" cy="9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3312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897F5-16BC-D9FB-6727-624D1FBD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be 23">
            <a:extLst>
              <a:ext uri="{FF2B5EF4-FFF2-40B4-BE49-F238E27FC236}">
                <a16:creationId xmlns:a16="http://schemas.microsoft.com/office/drawing/2014/main" id="{3CB7C3D8-ABB5-9EB7-EF29-5FF20970A1FA}"/>
              </a:ext>
            </a:extLst>
          </p:cNvPr>
          <p:cNvSpPr/>
          <p:nvPr/>
        </p:nvSpPr>
        <p:spPr>
          <a:xfrm>
            <a:off x="524656" y="1674888"/>
            <a:ext cx="10268262" cy="4351338"/>
          </a:xfrm>
          <a:prstGeom prst="cub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35FC5C-453F-3515-8EBB-99F6863BD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KR" b="1" dirty="0">
                <a:latin typeface="NanumGothic" pitchFamily="2" charset="-127"/>
                <a:ea typeface="NanumGothic" pitchFamily="2" charset="-127"/>
              </a:rPr>
              <a:t>Program Structure</a:t>
            </a:r>
          </a:p>
        </p:txBody>
      </p:sp>
      <p:pic>
        <p:nvPicPr>
          <p:cNvPr id="2050" name="Picture 2" descr="CAU, Computer Science &amp; Engineering | Seoul">
            <a:extLst>
              <a:ext uri="{FF2B5EF4-FFF2-40B4-BE49-F238E27FC236}">
                <a16:creationId xmlns:a16="http://schemas.microsoft.com/office/drawing/2014/main" id="{CE7F4E4C-6CC7-275A-DA37-6D5CCC12C0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389" y="5200389"/>
            <a:ext cx="1657611" cy="165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5DE7467-2440-EFFD-1798-22B84D8750ED}"/>
              </a:ext>
            </a:extLst>
          </p:cNvPr>
          <p:cNvSpPr/>
          <p:nvPr/>
        </p:nvSpPr>
        <p:spPr>
          <a:xfrm>
            <a:off x="1365728" y="814389"/>
            <a:ext cx="1615857" cy="559874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shade val="67500"/>
                  <a:satMod val="115000"/>
                  <a:alpha val="92656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/>
              <a:t>Input Image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914A04A-48E7-8FA6-AA61-9BF4543134B5}"/>
              </a:ext>
            </a:extLst>
          </p:cNvPr>
          <p:cNvSpPr/>
          <p:nvPr/>
        </p:nvSpPr>
        <p:spPr>
          <a:xfrm>
            <a:off x="902266" y="3128370"/>
            <a:ext cx="2542783" cy="1030267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>
                <a:solidFill>
                  <a:schemeClr val="tx1"/>
                </a:solidFill>
              </a:rPr>
              <a:t>Extract Color Stats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195D360-6686-6292-E083-FA47E85831E7}"/>
              </a:ext>
            </a:extLst>
          </p:cNvPr>
          <p:cNvSpPr/>
          <p:nvPr/>
        </p:nvSpPr>
        <p:spPr>
          <a:xfrm>
            <a:off x="902266" y="4685254"/>
            <a:ext cx="2542783" cy="1030267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>
                <a:solidFill>
                  <a:schemeClr val="tx1"/>
                </a:solidFill>
              </a:rPr>
              <a:t>White Balance Correction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3F8B7D-A4A9-874B-3E31-2EEDCF730285}"/>
              </a:ext>
            </a:extLst>
          </p:cNvPr>
          <p:cNvSpPr/>
          <p:nvPr/>
        </p:nvSpPr>
        <p:spPr>
          <a:xfrm>
            <a:off x="3979256" y="4663777"/>
            <a:ext cx="2542783" cy="1030267"/>
          </a:xfrm>
          <a:prstGeom prst="round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>
                <a:solidFill>
                  <a:schemeClr val="tx1"/>
                </a:solidFill>
              </a:rPr>
              <a:t>Color Temperature Adjustment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2DB8CDBF-AE60-5DEB-6715-2003C2D2068D}"/>
              </a:ext>
            </a:extLst>
          </p:cNvPr>
          <p:cNvSpPr/>
          <p:nvPr/>
        </p:nvSpPr>
        <p:spPr>
          <a:xfrm>
            <a:off x="3979256" y="3128367"/>
            <a:ext cx="2542783" cy="1030267"/>
          </a:xfrm>
          <a:prstGeom prst="round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>
                <a:solidFill>
                  <a:schemeClr val="tx1"/>
                </a:solidFill>
              </a:rPr>
              <a:t>Gamma &amp; Saturation Correction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EAE817E-C1F9-83EF-6F4D-D9CF6C9669FE}"/>
              </a:ext>
            </a:extLst>
          </p:cNvPr>
          <p:cNvSpPr/>
          <p:nvPr/>
        </p:nvSpPr>
        <p:spPr>
          <a:xfrm>
            <a:off x="7056247" y="3128367"/>
            <a:ext cx="2542783" cy="1030267"/>
          </a:xfrm>
          <a:prstGeom prst="round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>
                <a:solidFill>
                  <a:schemeClr val="tx1"/>
                </a:solidFill>
              </a:rPr>
              <a:t>Visualization &amp; Evaluation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3951B95-5558-1083-0EE4-43216F8D93A8}"/>
              </a:ext>
            </a:extLst>
          </p:cNvPr>
          <p:cNvSpPr/>
          <p:nvPr/>
        </p:nvSpPr>
        <p:spPr>
          <a:xfrm>
            <a:off x="10481805" y="3257205"/>
            <a:ext cx="1615857" cy="601251"/>
          </a:xfrm>
          <a:prstGeom prst="roundRect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shade val="67500"/>
                  <a:satMod val="115000"/>
                  <a:alpha val="92656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dirty="0"/>
              <a:t>Output Image</a:t>
            </a:r>
          </a:p>
        </p:txBody>
      </p:sp>
      <p:sp>
        <p:nvSpPr>
          <p:cNvPr id="18" name="Down Arrow 17">
            <a:extLst>
              <a:ext uri="{FF2B5EF4-FFF2-40B4-BE49-F238E27FC236}">
                <a16:creationId xmlns:a16="http://schemas.microsoft.com/office/drawing/2014/main" id="{23939B54-43C1-2F73-78FF-A9F599C64BC5}"/>
              </a:ext>
            </a:extLst>
          </p:cNvPr>
          <p:cNvSpPr/>
          <p:nvPr/>
        </p:nvSpPr>
        <p:spPr>
          <a:xfrm>
            <a:off x="2011214" y="1509312"/>
            <a:ext cx="324886" cy="1491140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645805F7-FE74-4EFF-9F6F-8CC7CF1F83EF}"/>
              </a:ext>
            </a:extLst>
          </p:cNvPr>
          <p:cNvSpPr/>
          <p:nvPr/>
        </p:nvSpPr>
        <p:spPr>
          <a:xfrm>
            <a:off x="1978687" y="4215364"/>
            <a:ext cx="324886" cy="41316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0" name="Down Arrow 19">
            <a:extLst>
              <a:ext uri="{FF2B5EF4-FFF2-40B4-BE49-F238E27FC236}">
                <a16:creationId xmlns:a16="http://schemas.microsoft.com/office/drawing/2014/main" id="{D7288E8C-B668-B2F9-D193-0184F64532C4}"/>
              </a:ext>
            </a:extLst>
          </p:cNvPr>
          <p:cNvSpPr/>
          <p:nvPr/>
        </p:nvSpPr>
        <p:spPr>
          <a:xfrm rot="16200000">
            <a:off x="3568985" y="4993805"/>
            <a:ext cx="324886" cy="41316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90DD628D-3A73-5A69-E357-0C79E3E17327}"/>
              </a:ext>
            </a:extLst>
          </p:cNvPr>
          <p:cNvSpPr/>
          <p:nvPr/>
        </p:nvSpPr>
        <p:spPr>
          <a:xfrm rot="10800000">
            <a:off x="5103068" y="4197788"/>
            <a:ext cx="324886" cy="41316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CF37A37A-7D40-EE52-BB11-82356A86497E}"/>
              </a:ext>
            </a:extLst>
          </p:cNvPr>
          <p:cNvSpPr/>
          <p:nvPr/>
        </p:nvSpPr>
        <p:spPr>
          <a:xfrm rot="16200000">
            <a:off x="6629452" y="3436919"/>
            <a:ext cx="324886" cy="41316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8" name="Down Arrow 27">
            <a:extLst>
              <a:ext uri="{FF2B5EF4-FFF2-40B4-BE49-F238E27FC236}">
                <a16:creationId xmlns:a16="http://schemas.microsoft.com/office/drawing/2014/main" id="{24C2B5AE-7CFE-A3D7-E1C7-A105E4EE3215}"/>
              </a:ext>
            </a:extLst>
          </p:cNvPr>
          <p:cNvSpPr/>
          <p:nvPr/>
        </p:nvSpPr>
        <p:spPr>
          <a:xfrm rot="16200000">
            <a:off x="9877975" y="3236407"/>
            <a:ext cx="324886" cy="710071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61251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35777-86F1-22E7-B499-5FF129B7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057DC-5B28-4C16-76FC-90CA7C7BC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KR" b="1" dirty="0">
                <a:latin typeface="NanumGothic" pitchFamily="2" charset="-127"/>
                <a:ea typeface="NanumGothic" pitchFamily="2" charset="-127"/>
              </a:rPr>
              <a:t>Team Roles &amp; Development Plan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2374C4-8897-DAD0-63E8-D426B6EA23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286913"/>
              </p:ext>
            </p:extLst>
          </p:nvPr>
        </p:nvGraphicFramePr>
        <p:xfrm>
          <a:off x="1772338" y="1979862"/>
          <a:ext cx="8660923" cy="1854200"/>
        </p:xfrm>
        <a:graphic>
          <a:graphicData uri="http://schemas.openxmlformats.org/drawingml/2006/table">
            <a:tbl>
              <a:tblPr firstRow="1" bandRow="1">
                <a:tableStyleId>{17292A2E-F333-43FB-9621-5CBBE7FDCDCB}</a:tableStyleId>
              </a:tblPr>
              <a:tblGrid>
                <a:gridCol w="1090930">
                  <a:extLst>
                    <a:ext uri="{9D8B030D-6E8A-4147-A177-3AD203B41FA5}">
                      <a16:colId xmlns:a16="http://schemas.microsoft.com/office/drawing/2014/main" val="3140992831"/>
                    </a:ext>
                  </a:extLst>
                </a:gridCol>
                <a:gridCol w="2844694">
                  <a:extLst>
                    <a:ext uri="{9D8B030D-6E8A-4147-A177-3AD203B41FA5}">
                      <a16:colId xmlns:a16="http://schemas.microsoft.com/office/drawing/2014/main" val="429354694"/>
                    </a:ext>
                  </a:extLst>
                </a:gridCol>
                <a:gridCol w="4725299">
                  <a:extLst>
                    <a:ext uri="{9D8B030D-6E8A-4147-A177-3AD203B41FA5}">
                      <a16:colId xmlns:a16="http://schemas.microsoft.com/office/drawing/2014/main" val="16024844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Key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0723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b="1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Research &amp; 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Gray-World, Gamma math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8737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b="1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Core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Color space, algorithms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1719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Evaluation &amp; Visualization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Histograms, comparisons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2412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Integration &amp;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/>
                        <a:t>Coding, Report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8964930"/>
                  </a:ext>
                </a:extLst>
              </a:tr>
            </a:tbl>
          </a:graphicData>
        </a:graphic>
      </p:graphicFrame>
      <p:pic>
        <p:nvPicPr>
          <p:cNvPr id="2050" name="Picture 2" descr="CAU, Computer Science &amp; Engineering | Seoul">
            <a:extLst>
              <a:ext uri="{FF2B5EF4-FFF2-40B4-BE49-F238E27FC236}">
                <a16:creationId xmlns:a16="http://schemas.microsoft.com/office/drawing/2014/main" id="{95F8679D-CF23-CAA2-38FB-5AF84F231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389" y="5200389"/>
            <a:ext cx="1657611" cy="165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3B96AC2F-B8DC-FEFA-F51F-3896C842DC36}"/>
              </a:ext>
            </a:extLst>
          </p:cNvPr>
          <p:cNvGrpSpPr/>
          <p:nvPr/>
        </p:nvGrpSpPr>
        <p:grpSpPr>
          <a:xfrm>
            <a:off x="2790940" y="4273288"/>
            <a:ext cx="6610120" cy="1854201"/>
            <a:chOff x="2855951" y="4348294"/>
            <a:chExt cx="6610120" cy="1854201"/>
          </a:xfrm>
        </p:grpSpPr>
        <p:sp>
          <p:nvSpPr>
            <p:cNvPr id="5" name="Wave 4">
              <a:extLst>
                <a:ext uri="{FF2B5EF4-FFF2-40B4-BE49-F238E27FC236}">
                  <a16:creationId xmlns:a16="http://schemas.microsoft.com/office/drawing/2014/main" id="{CC788C49-5365-1754-B090-7DB00D461F8E}"/>
                </a:ext>
              </a:extLst>
            </p:cNvPr>
            <p:cNvSpPr/>
            <p:nvPr/>
          </p:nvSpPr>
          <p:spPr>
            <a:xfrm>
              <a:off x="2855951" y="4348294"/>
              <a:ext cx="1652530" cy="1854199"/>
            </a:xfrm>
            <a:prstGeom prst="wav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shade val="67500"/>
                    <a:satMod val="115000"/>
                    <a:alpha val="92656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/>
                <a:t>Research </a:t>
              </a:r>
            </a:p>
          </p:txBody>
        </p:sp>
        <p:sp>
          <p:nvSpPr>
            <p:cNvPr id="7" name="Wave 6">
              <a:extLst>
                <a:ext uri="{FF2B5EF4-FFF2-40B4-BE49-F238E27FC236}">
                  <a16:creationId xmlns:a16="http://schemas.microsoft.com/office/drawing/2014/main" id="{15DE0267-CF4D-ACFC-E85B-46BA763C381E}"/>
                </a:ext>
              </a:extLst>
            </p:cNvPr>
            <p:cNvSpPr/>
            <p:nvPr/>
          </p:nvSpPr>
          <p:spPr>
            <a:xfrm>
              <a:off x="4508481" y="4348295"/>
              <a:ext cx="1652530" cy="1854199"/>
            </a:xfrm>
            <a:prstGeom prst="wav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shade val="67500"/>
                    <a:satMod val="115000"/>
                    <a:alpha val="92656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/>
                <a:t>Implement Color Conversion</a:t>
              </a:r>
            </a:p>
          </p:txBody>
        </p:sp>
        <p:sp>
          <p:nvSpPr>
            <p:cNvPr id="8" name="Wave 7">
              <a:extLst>
                <a:ext uri="{FF2B5EF4-FFF2-40B4-BE49-F238E27FC236}">
                  <a16:creationId xmlns:a16="http://schemas.microsoft.com/office/drawing/2014/main" id="{D12610F9-3A30-1436-5B0A-49F1C58AF5F2}"/>
                </a:ext>
              </a:extLst>
            </p:cNvPr>
            <p:cNvSpPr/>
            <p:nvPr/>
          </p:nvSpPr>
          <p:spPr>
            <a:xfrm>
              <a:off x="6161011" y="4348296"/>
              <a:ext cx="1652530" cy="1854199"/>
            </a:xfrm>
            <a:prstGeom prst="wav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shade val="67500"/>
                    <a:satMod val="115000"/>
                    <a:alpha val="92656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/>
                <a:t>Impement Gamma and Presets</a:t>
              </a:r>
            </a:p>
          </p:txBody>
        </p:sp>
        <p:sp>
          <p:nvSpPr>
            <p:cNvPr id="9" name="Wave 8">
              <a:extLst>
                <a:ext uri="{FF2B5EF4-FFF2-40B4-BE49-F238E27FC236}">
                  <a16:creationId xmlns:a16="http://schemas.microsoft.com/office/drawing/2014/main" id="{FBA6087B-2E99-AC31-400B-DD4654674953}"/>
                </a:ext>
              </a:extLst>
            </p:cNvPr>
            <p:cNvSpPr/>
            <p:nvPr/>
          </p:nvSpPr>
          <p:spPr>
            <a:xfrm>
              <a:off x="7813541" y="4348294"/>
              <a:ext cx="1652530" cy="1854199"/>
            </a:xfrm>
            <a:prstGeom prst="wave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accent1">
                    <a:shade val="67500"/>
                    <a:satMod val="115000"/>
                    <a:alpha val="92656"/>
                  </a:schemeClr>
                </a:gs>
                <a:gs pos="100000">
                  <a:schemeClr val="accent1">
                    <a:shade val="100000"/>
                    <a:satMod val="1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KR" dirty="0"/>
                <a:t>Integration and Testing</a:t>
              </a:r>
            </a:p>
          </p:txBody>
        </p:sp>
      </p:grpSp>
      <p:pic>
        <p:nvPicPr>
          <p:cNvPr id="11" name="Picture 4">
            <a:extLst>
              <a:ext uri="{FF2B5EF4-FFF2-40B4-BE49-F238E27FC236}">
                <a16:creationId xmlns:a16="http://schemas.microsoft.com/office/drawing/2014/main" id="{66BF4F10-8858-E403-5049-51A4139DA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3721"/>
            <a:ext cx="1974771" cy="9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002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73B70-8990-B82B-32CC-0FD2691B2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F23D9-B1F7-5EBC-9F09-BDB2B2B07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KR" b="1" dirty="0">
                <a:latin typeface="NanumGothic" pitchFamily="2" charset="-127"/>
                <a:ea typeface="NanumGothic" pitchFamily="2" charset="-127"/>
              </a:rPr>
              <a:t>Expected Results</a:t>
            </a:r>
          </a:p>
        </p:txBody>
      </p:sp>
      <p:pic>
        <p:nvPicPr>
          <p:cNvPr id="2050" name="Picture 2" descr="CAU, Computer Science &amp; Engineering | Seoul">
            <a:extLst>
              <a:ext uri="{FF2B5EF4-FFF2-40B4-BE49-F238E27FC236}">
                <a16:creationId xmlns:a16="http://schemas.microsoft.com/office/drawing/2014/main" id="{4932C156-0576-A01A-A916-268D173537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4389" y="5200389"/>
            <a:ext cx="1657611" cy="1657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991601E-08E4-D07B-ED15-5D3B22D4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594" y="3024720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KR" sz="2000" b="1" dirty="0"/>
          </a:p>
          <a:p>
            <a:pPr marL="0" indent="0" algn="ctr">
              <a:buNone/>
            </a:pPr>
            <a:r>
              <a:rPr lang="en-KR" sz="2000" b="1" u="sng" dirty="0"/>
              <a:t>Balanced RGB values</a:t>
            </a:r>
          </a:p>
          <a:p>
            <a:pPr marL="0" indent="0" algn="ctr">
              <a:buNone/>
            </a:pPr>
            <a:endParaRPr lang="en-KR" sz="2000" b="1" dirty="0"/>
          </a:p>
          <a:p>
            <a:pPr marL="0" indent="0" algn="ctr">
              <a:buNone/>
            </a:pPr>
            <a:r>
              <a:rPr lang="en-KR" sz="2000" b="1" u="sng" dirty="0"/>
              <a:t>Visually natural output</a:t>
            </a:r>
          </a:p>
          <a:p>
            <a:pPr marL="0" indent="0" algn="ctr">
              <a:buNone/>
            </a:pPr>
            <a:endParaRPr lang="en-KR" sz="2000" b="1" dirty="0"/>
          </a:p>
          <a:p>
            <a:pPr marL="0" indent="0" algn="ctr">
              <a:buNone/>
            </a:pPr>
            <a:r>
              <a:rPr lang="en-KR" sz="2000" b="1" u="sng" dirty="0"/>
              <a:t>Quantative metrics (mean shift, variance)</a:t>
            </a:r>
          </a:p>
        </p:txBody>
      </p:sp>
      <p:sp>
        <p:nvSpPr>
          <p:cNvPr id="6" name="Bevel 5">
            <a:extLst>
              <a:ext uri="{FF2B5EF4-FFF2-40B4-BE49-F238E27FC236}">
                <a16:creationId xmlns:a16="http://schemas.microsoft.com/office/drawing/2014/main" id="{A8D03B5D-10BA-64C1-FAE7-16BD28031A61}"/>
              </a:ext>
            </a:extLst>
          </p:cNvPr>
          <p:cNvSpPr/>
          <p:nvPr/>
        </p:nvSpPr>
        <p:spPr>
          <a:xfrm>
            <a:off x="2030776" y="2043518"/>
            <a:ext cx="8130448" cy="859316"/>
          </a:xfrm>
          <a:prstGeom prst="beve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 b="1" dirty="0"/>
              <a:t>Automatic Image Processing system that enhances color harmony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E35613A-F97F-4C62-F021-CF0717883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3721"/>
            <a:ext cx="1974771" cy="9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1063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951BE-E32A-C032-E8E0-7037A8CF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2124-F803-8B1D-1FE7-2D8BD50244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KR" b="1" dirty="0">
                <a:latin typeface="NANUMGOTHIC EXTRABOLD" panose="020D0604000000000000" pitchFamily="34" charset="-127"/>
                <a:ea typeface="NANUMGOTHIC EXTRABOLD" panose="020D0604000000000000" pitchFamily="34" charset="-127"/>
                <a:cs typeface="Angsana New" panose="02020603050405020304" pitchFamily="18" charset="-34"/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7D6552-DF56-997C-3FFA-0945310E9A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KR" dirty="0"/>
          </a:p>
          <a:p>
            <a:endParaRPr lang="en-KR" dirty="0"/>
          </a:p>
          <a:p>
            <a:pPr algn="r"/>
            <a:r>
              <a:rPr lang="en-KR" sz="1900" b="1" dirty="0">
                <a:latin typeface="NanumGothic" pitchFamily="2" charset="-127"/>
                <a:ea typeface="NanumGothic" pitchFamily="2" charset="-127"/>
              </a:rPr>
              <a:t>Team5 (Global Team)</a:t>
            </a:r>
          </a:p>
          <a:p>
            <a:pPr algn="r"/>
            <a:r>
              <a:rPr lang="en-KR" sz="1900" dirty="0">
                <a:latin typeface="NanumGothic" pitchFamily="2" charset="-127"/>
                <a:ea typeface="NanumGothic" pitchFamily="2" charset="-127"/>
              </a:rPr>
              <a:t>Dennis Goretzki, Lee Juhwan, Yu Seoyeon, Cha Seungjoon</a:t>
            </a:r>
          </a:p>
        </p:txBody>
      </p:sp>
      <p:pic>
        <p:nvPicPr>
          <p:cNvPr id="1026" name="Picture 2" descr="CAU, Computer Science &amp; Engineering | Seoul">
            <a:extLst>
              <a:ext uri="{FF2B5EF4-FFF2-40B4-BE49-F238E27FC236}">
                <a16:creationId xmlns:a16="http://schemas.microsoft.com/office/drawing/2014/main" id="{049D575D-72B3-F460-7605-503D72B87D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6238" y="5202238"/>
            <a:ext cx="1655762" cy="1655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900AA20F-FADA-EE1E-61B6-73606994CB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33721"/>
            <a:ext cx="1974771" cy="997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40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</TotalTime>
  <Words>180</Words>
  <Application>Microsoft Macintosh PowerPoint</Application>
  <PresentationFormat>Widescreen</PresentationFormat>
  <Paragraphs>58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NanumGothic</vt:lpstr>
      <vt:lpstr>NANUMGOTHIC EXTRABOLD</vt:lpstr>
      <vt:lpstr>Aptos</vt:lpstr>
      <vt:lpstr>Aptos Display</vt:lpstr>
      <vt:lpstr>Arial</vt:lpstr>
      <vt:lpstr>Office Theme</vt:lpstr>
      <vt:lpstr>Team Project 02 Proposal Presentation</vt:lpstr>
      <vt:lpstr>Motivation</vt:lpstr>
      <vt:lpstr>Program Objective</vt:lpstr>
      <vt:lpstr>Program Structure</vt:lpstr>
      <vt:lpstr>Team Roles &amp; Development Plan</vt:lpstr>
      <vt:lpstr>Expected Results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승준 차</dc:creator>
  <cp:lastModifiedBy>승준 차</cp:lastModifiedBy>
  <cp:revision>62</cp:revision>
  <dcterms:created xsi:type="dcterms:W3CDTF">2025-11-03T13:32:18Z</dcterms:created>
  <dcterms:modified xsi:type="dcterms:W3CDTF">2025-11-03T18:19:32Z</dcterms:modified>
</cp:coreProperties>
</file>